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74DE1E-0192-40CA-9905-FFA72AAF109A}" v="4" dt="2026-04-10T09:30:15.7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2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it Singh" userId="2cd98f8a-ea54-4f9a-9220-9f1a06967e7a" providerId="ADAL" clId="{2CAAC8D8-491F-4F4B-BD57-E8891C450855}"/>
    <pc:docChg chg="modSld">
      <pc:chgData name="Mohit Singh" userId="2cd98f8a-ea54-4f9a-9220-9f1a06967e7a" providerId="ADAL" clId="{2CAAC8D8-491F-4F4B-BD57-E8891C450855}" dt="2026-04-10T11:45:30.196" v="5" actId="1036"/>
      <pc:docMkLst>
        <pc:docMk/>
      </pc:docMkLst>
      <pc:sldChg chg="modSp mod">
        <pc:chgData name="Mohit Singh" userId="2cd98f8a-ea54-4f9a-9220-9f1a06967e7a" providerId="ADAL" clId="{2CAAC8D8-491F-4F4B-BD57-E8891C450855}" dt="2026-04-10T11:42:14.869" v="0" actId="1076"/>
        <pc:sldMkLst>
          <pc:docMk/>
          <pc:sldMk cId="0" sldId="267"/>
        </pc:sldMkLst>
        <pc:spChg chg="mod">
          <ac:chgData name="Mohit Singh" userId="2cd98f8a-ea54-4f9a-9220-9f1a06967e7a" providerId="ADAL" clId="{2CAAC8D8-491F-4F4B-BD57-E8891C450855}" dt="2026-04-10T11:42:14.869" v="0" actId="1076"/>
          <ac:spMkLst>
            <pc:docMk/>
            <pc:sldMk cId="0" sldId="267"/>
            <ac:spMk id="7" creationId="{00000000-0000-0000-0000-000000000000}"/>
          </ac:spMkLst>
        </pc:spChg>
      </pc:sldChg>
      <pc:sldChg chg="modSp mod">
        <pc:chgData name="Mohit Singh" userId="2cd98f8a-ea54-4f9a-9220-9f1a06967e7a" providerId="ADAL" clId="{2CAAC8D8-491F-4F4B-BD57-E8891C450855}" dt="2026-04-10T11:45:30.196" v="5" actId="1036"/>
        <pc:sldMkLst>
          <pc:docMk/>
          <pc:sldMk cId="0" sldId="271"/>
        </pc:sldMkLst>
        <pc:spChg chg="mod">
          <ac:chgData name="Mohit Singh" userId="2cd98f8a-ea54-4f9a-9220-9f1a06967e7a" providerId="ADAL" clId="{2CAAC8D8-491F-4F4B-BD57-E8891C450855}" dt="2026-04-10T11:45:03.239" v="1" actId="14100"/>
          <ac:spMkLst>
            <pc:docMk/>
            <pc:sldMk cId="0" sldId="271"/>
            <ac:spMk id="9" creationId="{00000000-0000-0000-0000-000000000000}"/>
          </ac:spMkLst>
        </pc:spChg>
        <pc:spChg chg="mod">
          <ac:chgData name="Mohit Singh" userId="2cd98f8a-ea54-4f9a-9220-9f1a06967e7a" providerId="ADAL" clId="{2CAAC8D8-491F-4F4B-BD57-E8891C450855}" dt="2026-04-10T11:45:05.823" v="2" actId="14100"/>
          <ac:spMkLst>
            <pc:docMk/>
            <pc:sldMk cId="0" sldId="271"/>
            <ac:spMk id="18" creationId="{00000000-0000-0000-0000-000000000000}"/>
          </ac:spMkLst>
        </pc:spChg>
        <pc:spChg chg="mod">
          <ac:chgData name="Mohit Singh" userId="2cd98f8a-ea54-4f9a-9220-9f1a06967e7a" providerId="ADAL" clId="{2CAAC8D8-491F-4F4B-BD57-E8891C450855}" dt="2026-04-10T11:45:30.196" v="5" actId="1036"/>
          <ac:spMkLst>
            <pc:docMk/>
            <pc:sldMk cId="0" sldId="271"/>
            <ac:spMk id="2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1998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085850"/>
            <a:ext cx="6619244" cy="249718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23482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82985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2146300"/>
            <a:ext cx="6619243" cy="143673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1952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485" y="1545432"/>
            <a:ext cx="3297254" cy="3146822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0870" y="1542069"/>
            <a:ext cx="3297256" cy="315018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60230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5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485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0872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0872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62180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4/10/2026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13308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4/10/2026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32589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1085850"/>
            <a:ext cx="2550798" cy="10858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8462" y="1085850"/>
            <a:ext cx="3896998" cy="34290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2346961"/>
            <a:ext cx="2550797" cy="217169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4/10/2026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12328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30" y="1390644"/>
            <a:ext cx="3819680" cy="1181106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2160" y="857250"/>
            <a:ext cx="2400300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3813734" cy="102870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3398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3600440"/>
            <a:ext cx="6619243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7305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7" y="4025494"/>
            <a:ext cx="6619242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97351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6619244" cy="14859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6619244" cy="177165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02098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1" y="1085850"/>
            <a:ext cx="5999486" cy="1742531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7800" y="2828380"/>
            <a:ext cx="5459737" cy="256631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262993"/>
            <a:ext cx="6619244" cy="125730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73721" y="728440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7868" y="1960341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9010692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343151"/>
            <a:ext cx="6619245" cy="123988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00232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710" y="1485900"/>
            <a:ext cx="221015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347" y="2000250"/>
            <a:ext cx="2195513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2745" y="1485900"/>
            <a:ext cx="220218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4829" y="2000250"/>
            <a:ext cx="2210096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1485900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3525" y="2000250"/>
            <a:ext cx="2199085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4/10/2026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95294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347" y="3188212"/>
            <a:ext cx="220503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347" y="1657350"/>
            <a:ext cx="2205038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347" y="3620409"/>
            <a:ext cx="220503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032" y="3188212"/>
            <a:ext cx="219789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031" y="1657350"/>
            <a:ext cx="2197894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016" y="3620408"/>
            <a:ext cx="2200805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3188212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3525" y="1657350"/>
            <a:ext cx="2199085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3432" y="3620406"/>
            <a:ext cx="220199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4/10/2026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10404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64792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8159" y="322660"/>
            <a:ext cx="1314451" cy="4369594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348" y="665561"/>
            <a:ext cx="5567362" cy="40266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97208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4958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4"/>
            <a:ext cx="3027759" cy="31412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1"/>
            <a:ext cx="1141809" cy="177409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60" y="1"/>
            <a:ext cx="1202540" cy="8560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4572000"/>
            <a:ext cx="745301" cy="571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584" y="339538"/>
            <a:ext cx="7053542" cy="10503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4" y="1539689"/>
            <a:ext cx="6709906" cy="3146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616730" y="1343026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713680" y="2418973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7610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315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5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35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187950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731520" y="-731520"/>
            <a:ext cx="3657600" cy="3657600"/>
          </a:xfrm>
          <a:prstGeom prst="ellipse">
            <a:avLst/>
          </a:prstGeom>
          <a:solidFill>
            <a:srgbClr val="7B61FF">
              <a:alpha val="15000"/>
            </a:srgbClr>
          </a:solidFill>
          <a:ln w="12700">
            <a:solidFill>
              <a:srgbClr val="7B61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2560320"/>
            <a:ext cx="2286000" cy="2286000"/>
          </a:xfrm>
          <a:prstGeom prst="ellipse">
            <a:avLst/>
          </a:prstGeom>
          <a:solidFill>
            <a:srgbClr val="00C2FF">
              <a:alpha val="12000"/>
            </a:srgbClr>
          </a:solidFill>
          <a:ln w="12700">
            <a:solidFill>
              <a:srgbClr val="00C2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of AI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 ·  Pandas  ·  Probability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AI prediction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502920"/>
            <a:ext cx="3931920" cy="475488"/>
          </a:xfrm>
          <a:prstGeom prst="rect">
            <a:avLst/>
          </a:prstGeom>
          <a:solidFill>
            <a:srgbClr val="00C2FF">
              <a:alpha val="20000"/>
            </a:srgbClr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502920"/>
            <a:ext cx="109728" cy="47548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56048" y="50292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0" y="978408"/>
            <a:ext cx="73152" cy="246888"/>
          </a:xfrm>
          <a:prstGeom prst="rect">
            <a:avLst/>
          </a:prstGeom>
          <a:solidFill>
            <a:srgbClr val="8B9CB5">
              <a:alpha val="70000"/>
            </a:srgbClr>
          </a:solidFill>
          <a:ln w="12700">
            <a:solidFill>
              <a:srgbClr val="8B9C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225296"/>
            <a:ext cx="3931920" cy="475488"/>
          </a:xfrm>
          <a:prstGeom prst="rect">
            <a:avLst/>
          </a:prstGeom>
          <a:solidFill>
            <a:srgbClr val="1AD9A4">
              <a:alpha val="20000"/>
            </a:srgbClr>
          </a:solidFill>
          <a:ln w="12700">
            <a:solidFill>
              <a:srgbClr val="1AD9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0" y="1225296"/>
            <a:ext cx="109728" cy="475488"/>
          </a:xfrm>
          <a:prstGeom prst="rect">
            <a:avLst/>
          </a:prstGeom>
          <a:solidFill>
            <a:srgbClr val="1AD9A4"/>
          </a:solidFill>
          <a:ln w="12700">
            <a:solidFill>
              <a:srgbClr val="1AD9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56048" y="122529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75120" y="1700784"/>
            <a:ext cx="73152" cy="246888"/>
          </a:xfrm>
          <a:prstGeom prst="rect">
            <a:avLst/>
          </a:prstGeom>
          <a:solidFill>
            <a:srgbClr val="8B9CB5">
              <a:alpha val="70000"/>
            </a:srgbClr>
          </a:solidFill>
          <a:ln w="12700">
            <a:solidFill>
              <a:srgbClr val="8B9C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1947672"/>
            <a:ext cx="3931920" cy="475488"/>
          </a:xfrm>
          <a:prstGeom prst="rect">
            <a:avLst/>
          </a:prstGeom>
          <a:solidFill>
            <a:srgbClr val="7B61FF">
              <a:alpha val="20000"/>
            </a:srgbClr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1947672"/>
            <a:ext cx="109728" cy="47548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56048" y="194767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75120" y="2423160"/>
            <a:ext cx="73152" cy="246888"/>
          </a:xfrm>
          <a:prstGeom prst="rect">
            <a:avLst/>
          </a:prstGeom>
          <a:solidFill>
            <a:srgbClr val="8B9CB5">
              <a:alpha val="70000"/>
            </a:srgbClr>
          </a:solidFill>
          <a:ln w="12700">
            <a:solidFill>
              <a:srgbClr val="8B9C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2670048"/>
            <a:ext cx="3931920" cy="475488"/>
          </a:xfrm>
          <a:prstGeom prst="rect">
            <a:avLst/>
          </a:prstGeom>
          <a:solidFill>
            <a:srgbClr val="FFD93D">
              <a:alpha val="20000"/>
            </a:srgbClr>
          </a:solidFill>
          <a:ln w="127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2670048"/>
            <a:ext cx="109728" cy="475488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56048" y="267004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75120" y="3145536"/>
            <a:ext cx="73152" cy="246888"/>
          </a:xfrm>
          <a:prstGeom prst="rect">
            <a:avLst/>
          </a:prstGeom>
          <a:solidFill>
            <a:srgbClr val="8B9CB5">
              <a:alpha val="70000"/>
            </a:srgbClr>
          </a:solidFill>
          <a:ln w="12700">
            <a:solidFill>
              <a:srgbClr val="8B9C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54880" y="3392424"/>
            <a:ext cx="3931920" cy="475488"/>
          </a:xfrm>
          <a:prstGeom prst="rect">
            <a:avLst/>
          </a:prstGeom>
          <a:solidFill>
            <a:srgbClr val="FF6B6B">
              <a:alpha val="2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3392424"/>
            <a:ext cx="109728" cy="47548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56048" y="339242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0" y="3867912"/>
            <a:ext cx="73152" cy="246888"/>
          </a:xfrm>
          <a:prstGeom prst="rect">
            <a:avLst/>
          </a:prstGeom>
          <a:solidFill>
            <a:srgbClr val="8B9CB5">
              <a:alpha val="70000"/>
            </a:srgbClr>
          </a:solidFill>
          <a:ln w="12700">
            <a:solidFill>
              <a:srgbClr val="8B9C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54880" y="4114800"/>
            <a:ext cx="3931920" cy="475488"/>
          </a:xfrm>
          <a:prstGeom prst="rect">
            <a:avLst/>
          </a:prstGeom>
          <a:solidFill>
            <a:srgbClr val="00FFB3">
              <a:alpha val="20000"/>
            </a:srgbClr>
          </a:solidFill>
          <a:ln w="12700">
            <a:solidFill>
              <a:srgbClr val="00FF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54880" y="4114800"/>
            <a:ext cx="109728" cy="475488"/>
          </a:xfrm>
          <a:prstGeom prst="rect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56048" y="411480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D9A4"/>
          </a:solidFill>
          <a:ln w="12700">
            <a:solidFill>
              <a:srgbClr val="1AD9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1371600" cy="256032"/>
          </a:xfrm>
          <a:prstGeom prst="rect">
            <a:avLst/>
          </a:prstGeom>
          <a:solidFill>
            <a:srgbClr val="1AD9A4"/>
          </a:solidFill>
          <a:ln w="12700">
            <a:solidFill>
              <a:srgbClr val="1AD9A4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F1A"/>
                </a:solidFill>
              </a:rPr>
              <a:t>PANDAS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Pandas?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most powerful tool for handling and exploring data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4206240" cy="868680"/>
          </a:xfrm>
          <a:prstGeom prst="rect">
            <a:avLst/>
          </a:prstGeom>
          <a:solidFill>
            <a:srgbClr val="1A2235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📁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1691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D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98424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CSV, Excel, JSON files into structured tables called DataFrames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2624328"/>
            <a:ext cx="4206240" cy="868680"/>
          </a:xfrm>
          <a:prstGeom prst="rect">
            <a:avLst/>
          </a:prstGeom>
          <a:solidFill>
            <a:srgbClr val="1A2235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43000" y="27157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D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3008376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View, filter, sort and understand your dataset before any ML work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3648456"/>
            <a:ext cx="4206240" cy="868680"/>
          </a:xfrm>
          <a:prstGeom prst="rect">
            <a:avLst/>
          </a:prstGeom>
          <a:solidFill>
            <a:srgbClr val="1A2235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3785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🧹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43000" y="37398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D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403250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fix types, prepare clean input for AI models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92040" y="1508760"/>
            <a:ext cx="3840480" cy="3291840"/>
          </a:xfrm>
          <a:prstGeom prst="rect">
            <a:avLst/>
          </a:prstGeom>
          <a:solidFill>
            <a:srgbClr val="0A0F1E"/>
          </a:solidFill>
          <a:ln w="12700">
            <a:solidFill>
              <a:srgbClr val="7B61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01768" y="1600200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166360" y="1600200"/>
            <a:ext cx="91440" cy="91440"/>
          </a:xfrm>
          <a:prstGeom prst="ellipse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330952" y="1600200"/>
            <a:ext cx="91440" cy="91440"/>
          </a:xfrm>
          <a:prstGeom prst="ellipse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01768" y="1764792"/>
            <a:ext cx="362102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Load a dataset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pd.read_csv("students.csv")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Peek at data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print(df.head())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Shape of data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print(df.shape)   # (rows, cols)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Quick summary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print(df.describe())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46634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AI can learn → data must be organized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D9A4"/>
          </a:solidFill>
          <a:ln w="12700">
            <a:solidFill>
              <a:srgbClr val="1AD9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1371600" cy="256032"/>
          </a:xfrm>
          <a:prstGeom prst="rect">
            <a:avLst/>
          </a:prstGeom>
          <a:solidFill>
            <a:srgbClr val="1AD9A4"/>
          </a:solidFill>
          <a:ln w="12700">
            <a:solidFill>
              <a:srgbClr val="1AD9A4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F1A"/>
                </a:solidFill>
              </a:rPr>
              <a:t>PANDAS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 &amp; Manipulating Data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is like Excel — but programmable and far more powerful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2011680" cy="868680"/>
          </a:xfrm>
          <a:prstGeom prst="rect">
            <a:avLst/>
          </a:prstGeom>
          <a:solidFill>
            <a:srgbClr val="1A2235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1208" y="160020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21208" y="1947672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5 rows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06040" y="1508760"/>
            <a:ext cx="2011680" cy="868680"/>
          </a:xfrm>
          <a:prstGeom prst="rect">
            <a:avLst/>
          </a:prstGeom>
          <a:solidFill>
            <a:srgbClr val="1A2235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15768" y="160020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15768" y="1947672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&amp; memory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532888"/>
            <a:ext cx="2011680" cy="868680"/>
          </a:xfrm>
          <a:prstGeom prst="rect">
            <a:avLst/>
          </a:prstGeom>
          <a:solidFill>
            <a:srgbClr val="1A2235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21208" y="2624328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1208" y="297180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min, max, std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06040" y="2532888"/>
            <a:ext cx="2011680" cy="868680"/>
          </a:xfrm>
          <a:prstGeom prst="rect">
            <a:avLst/>
          </a:prstGeom>
          <a:solidFill>
            <a:srgbClr val="1A2235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15768" y="2624328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15768" y="297180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× Columns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557016"/>
            <a:ext cx="2011680" cy="868680"/>
          </a:xfrm>
          <a:prstGeom prst="rect">
            <a:avLst/>
          </a:prstGeom>
          <a:solidFill>
            <a:srgbClr val="1A2235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21208" y="3648456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df.loc[0,'Marks']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1208" y="399592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single cell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606040" y="3557016"/>
            <a:ext cx="2011680" cy="868680"/>
          </a:xfrm>
          <a:prstGeom prst="rect">
            <a:avLst/>
          </a:prstGeom>
          <a:solidFill>
            <a:srgbClr val="1A2235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15768" y="3648456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df.to_csv()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15768" y="399592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modified data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92040" y="1508760"/>
            <a:ext cx="3840480" cy="3017520"/>
          </a:xfrm>
          <a:prstGeom prst="rect">
            <a:avLst/>
          </a:prstGeom>
          <a:solidFill>
            <a:srgbClr val="0A0F1E"/>
          </a:solidFill>
          <a:ln w="12700">
            <a:solidFill>
              <a:srgbClr val="7B61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001768" y="1600200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166360" y="1600200"/>
            <a:ext cx="91440" cy="91440"/>
          </a:xfrm>
          <a:prstGeom prst="ellipse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330952" y="1600200"/>
            <a:ext cx="91440" cy="91440"/>
          </a:xfrm>
          <a:prstGeom prst="ellipse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01768" y="1764792"/>
            <a:ext cx="362102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Open an Excel file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pd.read_excel("marks.xlsx")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Access specific cell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print(df.loc[0, "Marks"])   # 90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Update a value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df.loc[0, "Marks"] = 95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a new column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df["Grade"] = df["Marks"] / 10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Save back to file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df.to_csv("updated.csv", index=False)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11480" y="46634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AD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 →  Access  →  Modify  →  Save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D9A4"/>
          </a:solidFill>
          <a:ln w="12700">
            <a:solidFill>
              <a:srgbClr val="1AD9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1371600" cy="256032"/>
          </a:xfrm>
          <a:prstGeom prst="rect">
            <a:avLst/>
          </a:prstGeom>
          <a:solidFill>
            <a:srgbClr val="1AD9A4"/>
          </a:solidFill>
          <a:ln w="12700">
            <a:solidFill>
              <a:srgbClr val="1AD9A4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F1A"/>
                </a:solidFill>
              </a:rPr>
              <a:t>PANDAS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— The Most Critical Step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cannot learn from messy or missing data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CLEANING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691640"/>
          <a:ext cx="3749040" cy="1554480"/>
        </p:xfrm>
        <a:graphic>
          <a:graphicData uri="http://schemas.openxmlformats.org/drawingml/2006/table">
            <a:tbl>
              <a:tblPr/>
              <a:tblGrid>
                <a:gridCol w="124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251960" y="2286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D9A4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983480" y="1417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F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</a:t>
            </a:r>
            <a:endParaRPr lang="en-US" sz="10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1691640"/>
          <a:ext cx="3749040" cy="1005840"/>
        </p:xfrm>
        <a:graphic>
          <a:graphicData uri="http://schemas.openxmlformats.org/drawingml/2006/table">
            <a:tbl>
              <a:tblPr/>
              <a:tblGrid>
                <a:gridCol w="124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11480" y="3337560"/>
            <a:ext cx="8321040" cy="1417320"/>
          </a:xfrm>
          <a:prstGeom prst="rect">
            <a:avLst/>
          </a:prstGeom>
          <a:solidFill>
            <a:srgbClr val="0A0F1E"/>
          </a:solidFill>
          <a:ln w="12700">
            <a:solidFill>
              <a:srgbClr val="7B61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521208" y="3429000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85800" y="3429000"/>
            <a:ext cx="91440" cy="91440"/>
          </a:xfrm>
          <a:prstGeom prst="ellipse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50392" y="3429000"/>
            <a:ext cx="91440" cy="91440"/>
          </a:xfrm>
          <a:prstGeom prst="ellipse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521208" y="3593592"/>
            <a:ext cx="8101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df.isnull().sum()         # Count missing values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df.dropna()               # Remove rows with NaN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df.fillna(df["Marks"].mean())  # Fill with average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df.groupby("Dept").mean() # Group &amp; summarize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df.sort_values("Marks", ascending=False)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D9A4"/>
          </a:solidFill>
          <a:ln w="12700">
            <a:solidFill>
              <a:srgbClr val="1AD9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1371600" cy="256032"/>
          </a:xfrm>
          <a:prstGeom prst="rect">
            <a:avLst/>
          </a:prstGeom>
          <a:solidFill>
            <a:srgbClr val="1AD9A4"/>
          </a:solidFill>
          <a:ln w="12700">
            <a:solidFill>
              <a:srgbClr val="1AD9A4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F1A"/>
                </a:solidFill>
              </a:rPr>
              <a:t>PANDAS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Pandas Fits in AI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1508760" cy="1325880"/>
          </a:xfrm>
          <a:prstGeom prst="rect">
            <a:avLst/>
          </a:prstGeom>
          <a:solidFill>
            <a:srgbClr val="1A2235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93976" y="1508760"/>
            <a:ext cx="1508760" cy="1325880"/>
          </a:xfrm>
          <a:prstGeom prst="rect">
            <a:avLst/>
          </a:prstGeom>
          <a:solidFill>
            <a:srgbClr val="1A2235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093976" y="16002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39696" y="21031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Email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76472" y="1508760"/>
            <a:ext cx="1508760" cy="1325880"/>
          </a:xfrm>
          <a:prstGeom prst="rect">
            <a:avLst/>
          </a:prstGeom>
          <a:solidFill>
            <a:srgbClr val="1A2235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76472" y="16002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822192" y="21031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58968" y="1508760"/>
            <a:ext cx="1508760" cy="1325880"/>
          </a:xfrm>
          <a:prstGeom prst="rect">
            <a:avLst/>
          </a:prstGeom>
          <a:solidFill>
            <a:srgbClr val="1A2235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58968" y="16002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504688" y="21031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41464" y="1508760"/>
            <a:ext cx="1508760" cy="1325880"/>
          </a:xfrm>
          <a:prstGeom prst="rect">
            <a:avLst/>
          </a:prstGeom>
          <a:solidFill>
            <a:srgbClr val="1A2235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41464" y="16002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🎬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187184" y="21031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063240"/>
            <a:ext cx="8321040" cy="1737360"/>
          </a:xfrm>
          <a:prstGeom prst="rect">
            <a:avLst/>
          </a:prstGeom>
          <a:solidFill>
            <a:srgbClr val="0A2040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11480" y="3063240"/>
            <a:ext cx="91440" cy="173736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315468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to NumPy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3493008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gives us a clean, organized table.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AI models do not work on tables — they work on arrays of numbers.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exactly what NumPy provides.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1371600" cy="25603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F1A"/>
                </a:solidFill>
              </a:rPr>
              <a:t>NUMPY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NumPy?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numerical engine behind every AI and ML library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4206240" cy="868680"/>
          </a:xfrm>
          <a:prstGeom prst="rect">
            <a:avLst/>
          </a:prstGeom>
          <a:solidFill>
            <a:srgbClr val="1A2235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1691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Blazing Fast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98424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contiguous memory blocks — 20x–100x faster than Python lists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2624328"/>
            <a:ext cx="4206240" cy="868680"/>
          </a:xfrm>
          <a:prstGeom prst="rect">
            <a:avLst/>
          </a:prstGeom>
          <a:solidFill>
            <a:srgbClr val="1A2235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43000" y="27157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Operations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3008376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math on entire arrays at once — no loops needed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3648456"/>
            <a:ext cx="4206240" cy="868680"/>
          </a:xfrm>
          <a:prstGeom prst="rect">
            <a:avLst/>
          </a:prstGeom>
          <a:solidFill>
            <a:srgbClr val="1A2235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3785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43000" y="37398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403250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TensorFlow, PyTorch, scikit-learn — all built on NumPy arrays internally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92040" y="1508760"/>
            <a:ext cx="3840480" cy="3291840"/>
          </a:xfrm>
          <a:prstGeom prst="rect">
            <a:avLst/>
          </a:prstGeom>
          <a:solidFill>
            <a:srgbClr val="0A0F1E"/>
          </a:solidFill>
          <a:ln w="12700">
            <a:solidFill>
              <a:srgbClr val="7B61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01768" y="1600200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166360" y="1600200"/>
            <a:ext cx="91440" cy="91440"/>
          </a:xfrm>
          <a:prstGeom prst="ellipse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330952" y="1600200"/>
            <a:ext cx="91440" cy="91440"/>
          </a:xfrm>
          <a:prstGeom prst="ellipse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01768" y="1764792"/>
            <a:ext cx="362102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 = np.array([10, 20, 30, 40])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Operations on all elements at once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print(arr * 2)    # [20  40  60  80]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print(arr + 5)    # [15  25  35  45]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print(arr.mean()) # 25.0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 list multiply repeats the list!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 = [10, 20, 30]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print(lst * 2)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[10, 20, 30, 10, 20, 30]  ← NOT math!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46634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"Images, datasets, model weights — all stored as NumPy arrays"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1371600" cy="25603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F1A"/>
                </a:solidFill>
              </a:rPr>
              <a:t>NUMPY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vs Python List — How Much Faster?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Comparison (1 million elements × 2)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0" y="1783080"/>
            <a:ext cx="5943600" cy="502920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103120" y="178308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List  ~120 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0" y="2423160"/>
            <a:ext cx="777240" cy="502920"/>
          </a:xfrm>
          <a:prstGeom prst="rect">
            <a:avLst/>
          </a:prstGeom>
          <a:solidFill>
            <a:srgbClr val="7B61FF">
              <a:alpha val="90000"/>
            </a:srgbClr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03120" y="24231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 ~2 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3017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F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60× faster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3456432"/>
            <a:ext cx="8321040" cy="1508760"/>
          </a:xfrm>
          <a:prstGeom prst="rect">
            <a:avLst/>
          </a:prstGeom>
          <a:solidFill>
            <a:srgbClr val="0A0F1E"/>
          </a:solidFill>
          <a:ln w="12700">
            <a:solidFill>
              <a:srgbClr val="7B61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21208" y="3547872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85800" y="3547872"/>
            <a:ext cx="91440" cy="91440"/>
          </a:xfrm>
          <a:prstGeom prst="ellipse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50392" y="3547872"/>
            <a:ext cx="91440" cy="91440"/>
          </a:xfrm>
          <a:prstGeom prst="ellipse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1208" y="3712464"/>
            <a:ext cx="8101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time, numpy as np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 = list(range(1_000_000));  arr = np.array(lst)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= time.time()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 * 2 for x in lst]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print("List:", time.time() - start)   # ~0.12 sec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= time.time()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 * 2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print("NumPy:", time.time() - start)  # ~0.002 sec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1371600" cy="25603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F1A"/>
                </a:solidFill>
              </a:rPr>
              <a:t>NUMPY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NumPy Methods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2011680" cy="713232"/>
          </a:xfrm>
          <a:prstGeom prst="rect">
            <a:avLst/>
          </a:prstGeom>
          <a:solidFill>
            <a:srgbClr val="1A2235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1208" y="158191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np.array()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21208" y="1892808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array from list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06040" y="1508760"/>
            <a:ext cx="2011680" cy="713232"/>
          </a:xfrm>
          <a:prstGeom prst="rect">
            <a:avLst/>
          </a:prstGeom>
          <a:solidFill>
            <a:srgbClr val="1A2235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15768" y="158191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np.zeros()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15768" y="1892808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of all zeros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350008"/>
            <a:ext cx="2011680" cy="713232"/>
          </a:xfrm>
          <a:prstGeom prst="rect">
            <a:avLst/>
          </a:prstGeom>
          <a:solidFill>
            <a:srgbClr val="1A2235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1208" y="242316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np.ones()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1208" y="2734056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of all ones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606040" y="2350008"/>
            <a:ext cx="2011680" cy="713232"/>
          </a:xfrm>
          <a:prstGeom prst="rect">
            <a:avLst/>
          </a:prstGeom>
          <a:solidFill>
            <a:srgbClr val="1A2235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15768" y="242316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np.arange()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15768" y="2734056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Range-based array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191256"/>
            <a:ext cx="2011680" cy="713232"/>
          </a:xfrm>
          <a:prstGeom prst="rect">
            <a:avLst/>
          </a:prstGeom>
          <a:solidFill>
            <a:srgbClr val="1A2235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1208" y="326440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np.reshape()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1208" y="3575304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shape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06040" y="3191256"/>
            <a:ext cx="2011680" cy="713232"/>
          </a:xfrm>
          <a:prstGeom prst="rect">
            <a:avLst/>
          </a:prstGeom>
          <a:solidFill>
            <a:srgbClr val="1A2235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15768" y="326440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arr.shape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15768" y="3575304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× Columns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4032504"/>
            <a:ext cx="2011680" cy="713232"/>
          </a:xfrm>
          <a:prstGeom prst="rect">
            <a:avLst/>
          </a:prstGeom>
          <a:solidFill>
            <a:srgbClr val="1A2235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21208" y="410565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arr.ndim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1208" y="441655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dimensions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606040" y="4032504"/>
            <a:ext cx="2011680" cy="713232"/>
          </a:xfrm>
          <a:prstGeom prst="rect">
            <a:avLst/>
          </a:prstGeom>
          <a:solidFill>
            <a:srgbClr val="1A2235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15768" y="410565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arr.mean()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15768" y="441655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elements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92040" y="1508760"/>
            <a:ext cx="3840480" cy="2926080"/>
          </a:xfrm>
          <a:prstGeom prst="rect">
            <a:avLst/>
          </a:prstGeom>
          <a:solidFill>
            <a:srgbClr val="0A0F1E"/>
          </a:solidFill>
          <a:ln w="12700">
            <a:solidFill>
              <a:srgbClr val="7B61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001768" y="1600200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166360" y="1600200"/>
            <a:ext cx="91440" cy="91440"/>
          </a:xfrm>
          <a:prstGeom prst="ellipse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330952" y="1600200"/>
            <a:ext cx="91440" cy="91440"/>
          </a:xfrm>
          <a:prstGeom prst="ellipse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01768" y="1764792"/>
            <a:ext cx="362102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 = np.array([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[1, 2, 3],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[4, 5, 6]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print(matrix.shape)  # (2, 3)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print(matrix.ndim)   # 2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print(matrix.sum())  # 21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Reshape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 = np.arange(6)       # [0 1 2 3 4 5]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flat.reshape(2, 3)    # 2 rows, 3 cols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11480" y="46634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list = vector.   Multiple rows = matrix.   That's where Linear Algebra begins.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1371600" cy="25603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F1A"/>
                </a:solidFill>
              </a:rPr>
              <a:t>NUMPY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in AI — Images Are Just Numbers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960120" cy="868680"/>
          </a:xfrm>
          <a:prstGeom prst="rect">
            <a:avLst/>
          </a:prstGeom>
          <a:solidFill>
            <a:srgbClr val="E8E8E8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960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554480" y="1463040"/>
            <a:ext cx="960120" cy="868680"/>
          </a:xfrm>
          <a:prstGeom prst="rect">
            <a:avLst/>
          </a:prstGeom>
          <a:solidFill>
            <a:srgbClr val="111111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54480" y="1463040"/>
            <a:ext cx="960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60320" y="1463040"/>
            <a:ext cx="960120" cy="868680"/>
          </a:xfrm>
          <a:prstGeom prst="rect">
            <a:avLst/>
          </a:prstGeom>
          <a:solidFill>
            <a:srgbClr val="E8E8E8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0" y="1463040"/>
            <a:ext cx="960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377440"/>
            <a:ext cx="960120" cy="868680"/>
          </a:xfrm>
          <a:prstGeom prst="rect">
            <a:avLst/>
          </a:prstGeom>
          <a:solidFill>
            <a:srgbClr val="888888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377440"/>
            <a:ext cx="960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554480" y="2377440"/>
            <a:ext cx="960120" cy="868680"/>
          </a:xfrm>
          <a:prstGeom prst="rect">
            <a:avLst/>
          </a:prstGeom>
          <a:solidFill>
            <a:srgbClr val="111111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54480" y="2377440"/>
            <a:ext cx="960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560320" y="2377440"/>
            <a:ext cx="960120" cy="868680"/>
          </a:xfrm>
          <a:prstGeom prst="rect">
            <a:avLst/>
          </a:prstGeom>
          <a:solidFill>
            <a:srgbClr val="888888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60320" y="2377440"/>
            <a:ext cx="960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291840"/>
            <a:ext cx="960120" cy="868680"/>
          </a:xfrm>
          <a:prstGeom prst="rect">
            <a:avLst/>
          </a:prstGeom>
          <a:solidFill>
            <a:srgbClr val="111111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3291840"/>
            <a:ext cx="960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554480" y="3291840"/>
            <a:ext cx="960120" cy="868680"/>
          </a:xfrm>
          <a:prstGeom prst="rect">
            <a:avLst/>
          </a:prstGeom>
          <a:solidFill>
            <a:srgbClr val="E8E8E8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554480" y="3291840"/>
            <a:ext cx="960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560320" y="3291840"/>
            <a:ext cx="960120" cy="868680"/>
          </a:xfrm>
          <a:prstGeom prst="rect">
            <a:avLst/>
          </a:prstGeom>
          <a:solidFill>
            <a:srgbClr val="111111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560320" y="3291840"/>
            <a:ext cx="960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42519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Grayscale Image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0" y="146304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doesn't see images like humans do.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sees a grid of numbers — each pixel is a value 0–255.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657600" y="2148840"/>
            <a:ext cx="5074920" cy="2286000"/>
          </a:xfrm>
          <a:prstGeom prst="rect">
            <a:avLst/>
          </a:prstGeom>
          <a:solidFill>
            <a:srgbClr val="0A0F1E"/>
          </a:solidFill>
          <a:ln w="12700">
            <a:solidFill>
              <a:srgbClr val="7B61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767328" y="2240280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931920" y="2240280"/>
            <a:ext cx="91440" cy="91440"/>
          </a:xfrm>
          <a:prstGeom prst="ellipse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096512" y="2240280"/>
            <a:ext cx="91440" cy="91440"/>
          </a:xfrm>
          <a:prstGeom prst="ellipse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767328" y="2404872"/>
            <a:ext cx="485546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 = np.array([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[255,   0, 255],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[128,  64, 128],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  0, 255,   0]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print(img.shape)  # (3, 3)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real image might be (1080, 1920, 3)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F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1080 rows × 1920 cols × 3 (RGB)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11480" y="4526280"/>
            <a:ext cx="8321040" cy="475488"/>
          </a:xfrm>
          <a:prstGeom prst="rect">
            <a:avLst/>
          </a:prstGeom>
          <a:solidFill>
            <a:srgbClr val="0A2040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" y="45262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arrays become vectors and matrices — this is why Linear Algebra is the heart of AI  →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LINEAR ALGEBRA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Vector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quantity with both magnitude and direction in 2-dimensional space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5029200" cy="731520"/>
          </a:xfrm>
          <a:prstGeom prst="rect">
            <a:avLst/>
          </a:prstGeom>
          <a:solidFill>
            <a:srgbClr val="1E1E35"/>
          </a:solidFill>
          <a:ln w="1524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np.array([x, y])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848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2D vector has two components: horizontal (x) and vertical (y)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5029200" cy="731520"/>
          </a:xfrm>
          <a:prstGeom prst="rect">
            <a:avLst/>
          </a:prstGeom>
          <a:solidFill>
            <a:srgbClr val="1E1E35"/>
          </a:solidFill>
          <a:ln w="1524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6334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v.shape  →  (2,)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88950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stores vectors as 1D arrays. Shape (2,) means 2 elements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346704"/>
            <a:ext cx="5029200" cy="731520"/>
          </a:xfrm>
          <a:prstGeom prst="rect">
            <a:avLst/>
          </a:prstGeom>
          <a:solidFill>
            <a:srgbClr val="1E1E35"/>
          </a:solidFill>
          <a:ln w="1524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43814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np.linalg.norm(v)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69417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= √(x² + y²). Tells you how long the vector 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1691640"/>
            <a:ext cx="3383280" cy="3291840"/>
          </a:xfrm>
          <a:prstGeom prst="rect">
            <a:avLst/>
          </a:prstGeom>
          <a:solidFill>
            <a:srgbClr val="1A1A2E"/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742432" y="1856232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16168" y="1856232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89904" y="1856232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87568" y="2075688"/>
            <a:ext cx="3163824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
</a:t>
            </a: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a 2D vector
</a:t>
            </a:r>
            <a:r>
              <a:rPr lang="en-US" sz="10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np.array([3, 4])
print(v)          </a:t>
            </a: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[3 4]
</a:t>
            </a:r>
            <a:r>
              <a:rPr lang="en-US" sz="10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print(v.shape)    </a:t>
            </a: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(2,)
</a:t>
            </a:r>
            <a:r>
              <a:rPr lang="en-US" sz="10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print(v[0], v[1]) </a:t>
            </a: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4
# Magnitude (length)
</a:t>
            </a:r>
            <a:r>
              <a:rPr lang="en-US" sz="10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mag = np.linalg.norm(v)
print(mag)        </a:t>
            </a: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5.0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47091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C6FAC"/>
                </a:solidFill>
              </a:rPr>
              <a:t>Vectors are the core data unit — every data point in ML is a vector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LINEAR ALGEBRA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Vector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into three dimensions — used in computer graphics, robotics, and deep learning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5029200" cy="731520"/>
          </a:xfrm>
          <a:prstGeom prst="rect">
            <a:avLst/>
          </a:prstGeom>
          <a:solidFill>
            <a:srgbClr val="1E1E35"/>
          </a:solidFill>
          <a:ln w="1524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np.array([x, y, z])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848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components describe position or direction in 3D space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5029200" cy="731520"/>
          </a:xfrm>
          <a:prstGeom prst="rect">
            <a:avLst/>
          </a:prstGeom>
          <a:solidFill>
            <a:srgbClr val="1E1E35"/>
          </a:solidFill>
          <a:ln w="1524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6334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np.dot(a, b)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88950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product: measures similarity — if result is 0, vectors are perpendicular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346704"/>
            <a:ext cx="5029200" cy="731520"/>
          </a:xfrm>
          <a:prstGeom prst="rect">
            <a:avLst/>
          </a:prstGeom>
          <a:solidFill>
            <a:srgbClr val="1E1E35"/>
          </a:solidFill>
          <a:ln w="1524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43814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np.cross(a, b)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69417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product: returns a new vector perpendicular to both inputs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1691640"/>
            <a:ext cx="3383280" cy="3291840"/>
          </a:xfrm>
          <a:prstGeom prst="rect">
            <a:avLst/>
          </a:prstGeom>
          <a:solidFill>
            <a:srgbClr val="1A1A2E"/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742432" y="1856232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16168" y="1856232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89904" y="1856232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87568" y="2075688"/>
            <a:ext cx="3163824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a 3D vector
</a:t>
            </a:r>
            <a:r>
              <a:rPr lang="en-US" sz="10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np.array([1, 2, 3])
print(v.shape)    </a:t>
            </a: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(3,)
# Dot product (similarity)
</a:t>
            </a:r>
            <a:r>
              <a:rPr lang="en-US" sz="10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np.array([1, 0, 0])
b = np.array([0, 1, 0])
print(np.dot(a, b))   </a:t>
            </a: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  (perpendicular)
# Cross product
</a:t>
            </a:r>
            <a:r>
              <a:rPr lang="en-US" sz="10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print(np.cross(a, b)) </a:t>
            </a: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 0 1]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47091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C6FAC"/>
                </a:solidFill>
              </a:rPr>
              <a:t>In ML, feature vectors can have thousands of dimensions — same concept, higher-D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LINEAR ALGEBRA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Addition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vectors element-by-element — the backbone of neural network computations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5029200" cy="731520"/>
          </a:xfrm>
          <a:prstGeom prst="rect">
            <a:avLst/>
          </a:prstGeom>
          <a:solidFill>
            <a:srgbClr val="1E1E35"/>
          </a:solidFill>
          <a:ln w="1524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+ b  →  element-wise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848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matching components: [1,2] + [3,4] = [4,6]. NumPy does this in one step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5029200" cy="731520"/>
          </a:xfrm>
          <a:prstGeom prst="rect">
            <a:avLst/>
          </a:prstGeom>
          <a:solidFill>
            <a:srgbClr val="1E1E35"/>
          </a:solidFill>
          <a:ln w="1524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6334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Scalar multiplication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88950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every element by a number: 3 × [1,2] = [3,6]. Scales the vector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346704"/>
            <a:ext cx="5029200" cy="731520"/>
          </a:xfrm>
          <a:prstGeom prst="rect">
            <a:avLst/>
          </a:prstGeom>
          <a:solidFill>
            <a:srgbClr val="1E1E35"/>
          </a:solidFill>
          <a:ln w="1524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43814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Broadcasting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69417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auto-expands scalars to match array shape — no manual loops needed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1691640"/>
            <a:ext cx="3383280" cy="3291840"/>
          </a:xfrm>
          <a:prstGeom prst="rect">
            <a:avLst/>
          </a:prstGeom>
          <a:solidFill>
            <a:srgbClr val="1A1A2E"/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742432" y="1856232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16168" y="1856232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89904" y="1856232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87568" y="2075688"/>
            <a:ext cx="3163824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np.array([1, 2, 3])
b = np.array([4, 5, 6])
</a:t>
            </a: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Addition
</a:t>
            </a:r>
            <a:r>
              <a:rPr lang="en-US" sz="10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+ b)    </a:t>
            </a: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[5 7 9]
# Subtraction
</a:t>
            </a:r>
            <a:r>
              <a:rPr lang="en-US" sz="10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 - a)    </a:t>
            </a: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[3 3 3]
# Scalar multiply
</a:t>
            </a:r>
            <a:r>
              <a:rPr lang="en-US" sz="10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print(3 * a)    </a:t>
            </a: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[3 6 9]
# Element-wise multiply
</a:t>
            </a:r>
            <a:r>
              <a:rPr lang="en-US" sz="10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* b)    </a:t>
            </a: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[4 10 18]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47091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C6FAC"/>
                </a:solidFill>
              </a:rPr>
              <a:t>Gradient updates in neural networks = current weights + (learning_rate × gradient vector)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LINEAR ALGEBRA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2D grid of numbers — rows × columns. Your entire dataset is a matrix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5029200" cy="731520"/>
          </a:xfrm>
          <a:prstGeom prst="rect">
            <a:avLst/>
          </a:prstGeom>
          <a:solidFill>
            <a:srgbClr val="1E1E35"/>
          </a:solidFill>
          <a:ln w="1524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np.array([[...], [...]])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848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lists create a 2D matrix. Shape (m, n) = m rows, n columns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5029200" cy="731520"/>
          </a:xfrm>
          <a:prstGeom prst="rect">
            <a:avLst/>
          </a:prstGeom>
          <a:solidFill>
            <a:srgbClr val="1E1E35"/>
          </a:solidFill>
          <a:ln w="1524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6334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M.T  →  Transpose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88950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rows and columns. Shape (3,2) becomes (2,3). Essential for matrix multiplication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346704"/>
            <a:ext cx="5029200" cy="731520"/>
          </a:xfrm>
          <a:prstGeom prst="rect">
            <a:avLst/>
          </a:prstGeom>
          <a:solidFill>
            <a:srgbClr val="1E1E35"/>
          </a:solidFill>
          <a:ln w="1524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43814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np.zeros / np.eye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69417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matrix = all 0s. Identity matrix = 1s on diagonal. Used in model initialization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1691640"/>
            <a:ext cx="3383280" cy="3291840"/>
          </a:xfrm>
          <a:prstGeom prst="rect">
            <a:avLst/>
          </a:prstGeom>
          <a:solidFill>
            <a:srgbClr val="1A1A2E"/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742432" y="1856232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16168" y="1856232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89904" y="1856232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87568" y="2075688"/>
            <a:ext cx="3163824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3×2 matrix (3 rows, 2 cols)
</a:t>
            </a:r>
            <a:r>
              <a:rPr lang="en-US" sz="10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np.array([[1, 2],
              [3, 4],
              [5, 6]])
print(M.shape)    </a:t>
            </a: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(3, 2)
# Transpose
</a:t>
            </a:r>
            <a:r>
              <a:rPr lang="en-US" sz="10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print(M.T.shape)  </a:t>
            </a: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(2, 3)
# Special matrices
</a:t>
            </a:r>
            <a:r>
              <a:rPr lang="en-US" sz="10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np.eye(3)     </a:t>
            </a: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Identity 3×3
</a:t>
            </a:r>
            <a:r>
              <a:rPr lang="en-US" sz="10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np.zeros((2,3)) </a:t>
            </a: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All zeros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47091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C6FAC"/>
                </a:solidFill>
              </a:rPr>
              <a:t>A dataset of 1000 students with 5 features = a (1000 × 5) matrix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LINEAR ALGEBRA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× Vector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a vector by a matrix — the core operation inside every neural network layer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5029200" cy="731520"/>
          </a:xfrm>
          <a:prstGeom prst="rect">
            <a:avLst/>
          </a:prstGeom>
          <a:solidFill>
            <a:srgbClr val="1E1E35"/>
          </a:solidFill>
          <a:ln w="1524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np.dot(M, v)  or  M @ v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848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matrix M by vector v. Output is a new vector. Shapes must align: (m,n) × (n,) → (m,)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5029200" cy="731520"/>
          </a:xfrm>
          <a:prstGeom prst="rect">
            <a:avLst/>
          </a:prstGeom>
          <a:solidFill>
            <a:srgbClr val="1E1E35"/>
          </a:solidFill>
          <a:ln w="1524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6334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 × Matrix  →  np.dot(A, B)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88950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two transformations. (m,n) @ (n,p) → (m,p). Inner dimensions must match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346704"/>
            <a:ext cx="5029200" cy="731520"/>
          </a:xfrm>
          <a:prstGeom prst="rect">
            <a:avLst/>
          </a:prstGeom>
          <a:solidFill>
            <a:srgbClr val="1E1E35"/>
          </a:solidFill>
          <a:ln w="1524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43814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matters in AI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69417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neural layer computes:  output = W @ input + bias  — a matrix–vector multiply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1691640"/>
            <a:ext cx="3383280" cy="3291840"/>
          </a:xfrm>
          <a:prstGeom prst="rect">
            <a:avLst/>
          </a:prstGeom>
          <a:solidFill>
            <a:srgbClr val="1A1A2E"/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742432" y="1856232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16168" y="1856232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89904" y="1856232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87568" y="2075688"/>
            <a:ext cx="3163824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np.array([[1, 2],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[3, 4],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[5, 6]])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3×2
</a:t>
            </a:r>
            <a:r>
              <a:rPr lang="en-US" sz="10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np.array([1, 1])         </a:t>
            </a: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2D vector
# Matrix-vector multiply
</a:t>
            </a:r>
            <a:r>
              <a:rPr lang="en-US" sz="10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= W @ x
print(out)        </a:t>
            </a: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[3 7 11]
# Matrix-matrix multiply
</a:t>
            </a:r>
            <a:r>
              <a:rPr lang="en-US" sz="10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np.random.rand(3, 4)
B = np.random.rand(4, 2)
print((A @ B).shape)  </a:t>
            </a: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(3, 2)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47091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C6FAC"/>
                </a:solidFill>
              </a:rPr>
              <a:t>Every forward pass in a neural network is a chain of matrix multiplications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LINEAR ALGEBRA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Determinant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number summarizing how much a matrix scales area or volume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5029200" cy="731520"/>
          </a:xfrm>
          <a:prstGeom prst="rect">
            <a:avLst/>
          </a:prstGeom>
          <a:solidFill>
            <a:srgbClr val="1E1E35"/>
          </a:solidFill>
          <a:ln w="1524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np.linalg.det(M)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848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the determinant. Only valid for square matrices (n × n)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5029200" cy="731520"/>
          </a:xfrm>
          <a:prstGeom prst="rect">
            <a:avLst/>
          </a:prstGeom>
          <a:solidFill>
            <a:srgbClr val="1E1E35"/>
          </a:solidFill>
          <a:ln w="1524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6334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 = 0  →  singular matrix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88950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determinant of 0 means the matrix is not invertible — columns are linearly dependent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346704"/>
            <a:ext cx="5029200" cy="731520"/>
          </a:xfrm>
          <a:prstGeom prst="rect">
            <a:avLst/>
          </a:prstGeom>
          <a:solidFill>
            <a:srgbClr val="1E1E35"/>
          </a:solidFill>
          <a:ln w="1524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43814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|det| &gt; 1 expands  ·  |det| &lt; 1 shrinks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69417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absolute value tells you the scaling factor. Sign indicates whether orientation is flipped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1691640"/>
            <a:ext cx="3383280" cy="3291840"/>
          </a:xfrm>
          <a:prstGeom prst="rect">
            <a:avLst/>
          </a:prstGeom>
          <a:solidFill>
            <a:srgbClr val="1A1A2E"/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742432" y="1856232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16168" y="1856232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89904" y="1856232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87568" y="2075688"/>
            <a:ext cx="3163824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np.array([[3, 1],
              [2, 4]])
det = np.linalg.det(A)
print(det)        </a:t>
            </a: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10.0
# Singular (non-invertible) matrix
</a:t>
            </a:r>
            <a:r>
              <a:rPr lang="en-US" sz="10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np.array([[1, 2],
              [2, 4]])
print(np.linalg.det(B))  </a:t>
            </a: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0.0
# 3×3 determinant
</a:t>
            </a:r>
            <a:r>
              <a:rPr lang="en-US" sz="10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np.eye(3)
print(np.linalg.det(C))  </a:t>
            </a: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1.0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47091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C6FAC"/>
                </a:solidFill>
              </a:rPr>
              <a:t>Used in PCA, solving linear systems, and checking if a model solution is unique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LINEAR ALGEBRA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Stretching or shrinking vectors uniformly — a diagonal matrix that scales each axis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5029200" cy="731520"/>
          </a:xfrm>
          <a:prstGeom prst="rect">
            <a:avLst/>
          </a:prstGeom>
          <a:solidFill>
            <a:srgbClr val="1E1E35"/>
          </a:solidFill>
          <a:ln w="1524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np.diag([sx, sy])  →  scale matrix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848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diagonal matrix scales each axis independently. Off-diagonal elements are zero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5029200" cy="731520"/>
          </a:xfrm>
          <a:prstGeom prst="rect">
            <a:avLst/>
          </a:prstGeom>
          <a:solidFill>
            <a:srgbClr val="1E1E35"/>
          </a:solidFill>
          <a:ln w="1524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6334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Uniform vs non-uniform scaling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88950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factor on all axes = uniform. Different factors per axis = non-uniform (stretch/squish)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346704"/>
            <a:ext cx="5029200" cy="731520"/>
          </a:xfrm>
          <a:prstGeom prst="rect">
            <a:avLst/>
          </a:prstGeom>
          <a:solidFill>
            <a:srgbClr val="1E1E35"/>
          </a:solidFill>
          <a:ln w="1524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43814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normalization in ML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69417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inputs to [0,1] or N(0,1) so no feature dominates — prevents gradient imbalance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1691640"/>
            <a:ext cx="3383280" cy="3291840"/>
          </a:xfrm>
          <a:prstGeom prst="rect">
            <a:avLst/>
          </a:prstGeom>
          <a:solidFill>
            <a:srgbClr val="1A1A2E"/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742432" y="1856232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16168" y="1856232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89904" y="1856232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87568" y="2075688"/>
            <a:ext cx="3163824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Scale matrix: 2x on x, 3x on y
</a:t>
            </a:r>
            <a:r>
              <a:rPr lang="en-US" sz="10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np.diag([2, 3])
v = np.array([1, 1])
print(S @ v)      </a:t>
            </a: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[2 3]
# Feature normalization (min-max)
</a:t>
            </a:r>
            <a:r>
              <a:rPr lang="en-US" sz="10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np.array([10., 20., 30., 40.])
X_norm = (X - X.min()) / (X.max() - X.min())
print(X_norm)     </a:t>
            </a: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[0.  0.33 0.66 1.]
# Standardize (mean=0, std=1)
</a:t>
            </a:r>
            <a:r>
              <a:rPr lang="en-US" sz="10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X_std = (X - X.mean()) / X.std()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47091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C6FAC"/>
                </a:solidFill>
              </a:rPr>
              <a:t>Always scale your data before training — unscaled features cause slow or broken learning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LINEAR ALGEBRA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 &amp; Eigenvectors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vectors that only scale (not rotate) when a matrix is applied to them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5029200" cy="731520"/>
          </a:xfrm>
          <a:prstGeom prst="rect">
            <a:avLst/>
          </a:prstGeom>
          <a:solidFill>
            <a:srgbClr val="1E1E35"/>
          </a:solidFill>
          <a:ln w="1524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np.linalg.eig(M)  →  vals, vecs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848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eigenvalues λ and eigenvectors v such that  M·v = λ·v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5029200" cy="731520"/>
          </a:xfrm>
          <a:prstGeom prst="rect">
            <a:avLst/>
          </a:prstGeom>
          <a:solidFill>
            <a:srgbClr val="1E1E35"/>
          </a:solidFill>
          <a:ln w="1524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6334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Eigenvalue λ = scaling factor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88950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|λ| = dominant direction. PCA keeps directions with the largest eigenvalues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346704"/>
            <a:ext cx="5029200" cy="731520"/>
          </a:xfrm>
          <a:prstGeom prst="rect">
            <a:avLst/>
          </a:prstGeom>
          <a:solidFill>
            <a:srgbClr val="1E1E35"/>
          </a:solidFill>
          <a:ln w="1524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43814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 in PCA, Google PageRank, stability analysis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69417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= find eigenvectors of the covariance matrix → reduce dimensions while keeping variance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1691640"/>
            <a:ext cx="3383280" cy="3291840"/>
          </a:xfrm>
          <a:prstGeom prst="rect">
            <a:avLst/>
          </a:prstGeom>
          <a:solidFill>
            <a:srgbClr val="1A1A2E"/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742432" y="1856232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16168" y="1856232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89904" y="1856232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87568" y="2075688"/>
            <a:ext cx="3163824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np.array([[4, 1],
              [2, 3]])
vals, vecs = np.linalg.eig(M)
print(vals)       </a:t>
            </a: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[5. 2.]
</a:t>
            </a:r>
            <a:r>
              <a:rPr lang="en-US" sz="10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print(vecs)       </a:t>
            </a: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eigenvectors
# Verify: M @ v == λ * v
</a:t>
            </a:r>
            <a:r>
              <a:rPr lang="en-US" sz="10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v0 = vecs[:, 0]
lhs = M @ v0
rhs = vals[0] * v0
print(np.allclose(lhs, rhs))  </a:t>
            </a: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47091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C6FAC"/>
                </a:solidFill>
              </a:rPr>
              <a:t>PCA compresses 1000 features to 10 by keeping the 10 highest-eigenvalue directions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LINEAR ALGEBRA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Inverse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a matrix transformation — the matrix equivalent of dividing by a number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5029200" cy="731520"/>
          </a:xfrm>
          <a:prstGeom prst="rect">
            <a:avLst/>
          </a:prstGeom>
          <a:solidFill>
            <a:srgbClr val="1E1E35"/>
          </a:solidFill>
          <a:ln w="1524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np.linalg.inv(M)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848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M⁻¹ such that M @ M⁻¹ = I (identity). Only exists if det(M) ≠ 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5029200" cy="731520"/>
          </a:xfrm>
          <a:prstGeom prst="rect">
            <a:avLst/>
          </a:prstGeom>
          <a:solidFill>
            <a:srgbClr val="1E1E35"/>
          </a:solidFill>
          <a:ln w="1524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6334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np.linalg.solve(A, b)  ←  prefer this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88950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Ax = b more numerically stable than computing inv(A) @ b explicitly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346704"/>
            <a:ext cx="5029200" cy="731520"/>
          </a:xfrm>
          <a:prstGeom prst="rect">
            <a:avLst/>
          </a:prstGeom>
          <a:solidFill>
            <a:srgbClr val="1E1E35"/>
          </a:solidFill>
          <a:ln w="1524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43814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 in: Linear Regression, Normal Equation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69417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weights w = (XᵀX)⁻¹ Xᵀy  — the closed-form solution to linear regression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1691640"/>
            <a:ext cx="3383280" cy="3291840"/>
          </a:xfrm>
          <a:prstGeom prst="rect">
            <a:avLst/>
          </a:prstGeom>
          <a:solidFill>
            <a:srgbClr val="1A1A2E"/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742432" y="1856232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16168" y="1856232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89904" y="1856232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87568" y="2075688"/>
            <a:ext cx="3163824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np.array([[3., 1.],
              [2., 4.]])
A_inv = np.linalg.inv(A)
print(A_inv)
</a:t>
            </a: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Verify A @ A_inv = Identity
</a:t>
            </a:r>
            <a:r>
              <a:rPr lang="en-US" sz="10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print(np.allclose(A @ A_inv, np.eye(2)))
</a:t>
            </a: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
# Solve Ax = b  (preferred way)
</a:t>
            </a:r>
            <a:r>
              <a:rPr lang="en-US" sz="10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np.array([9., 10.])
x = np.linalg.solve(A, b)
print(x)          </a:t>
            </a: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solution vector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92608" y="45034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C6FAC"/>
                </a:solidFill>
              </a:rPr>
              <a:t>The normal equation (XᵀX)⁻¹Xᵀy finds the best-fit line without gradient descent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1371600" cy="25603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F1A"/>
                </a:solidFill>
              </a:rPr>
              <a:t>PROBABILITY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 Needs Probability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doesn't say 'I am 100% sure' — it speaks in chances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2514600" cy="1371600"/>
          </a:xfrm>
          <a:prstGeom prst="rect">
            <a:avLst/>
          </a:prstGeom>
          <a:solidFill>
            <a:srgbClr val="1A2235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email is SPAM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508760"/>
            <a:ext cx="2514600" cy="1371600"/>
          </a:xfrm>
          <a:prstGeom prst="rect">
            <a:avLst/>
          </a:prstGeom>
          <a:solidFill>
            <a:srgbClr val="1A2235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0" y="16002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9184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CAT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9320" y="1508760"/>
            <a:ext cx="2514600" cy="1371600"/>
          </a:xfrm>
          <a:prstGeom prst="rect">
            <a:avLst/>
          </a:prstGeom>
          <a:solidFill>
            <a:srgbClr val="1A2235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89320" y="16002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08076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Tomorrow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063240"/>
            <a:ext cx="73152" cy="4572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0815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Space (S)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3310128"/>
            <a:ext cx="8092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possible outcomes of an experiment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3675888"/>
            <a:ext cx="73152" cy="4572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69417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(A)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3922776"/>
            <a:ext cx="8092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subset of outcomes we care about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4288536"/>
            <a:ext cx="73152" cy="4572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43068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P(A)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4535424"/>
            <a:ext cx="8092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Favorable outcomes ÷ Total outcomes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1371600" cy="25603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F1A"/>
                </a:solidFill>
              </a:rPr>
              <a:t>PROBABILITY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Rules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8321040" cy="777240"/>
          </a:xfrm>
          <a:prstGeom prst="rect">
            <a:avLst/>
          </a:prstGeom>
          <a:solidFill>
            <a:srgbClr val="1A2235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91440" cy="7772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 Rule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520440" y="14173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P(A') = 1 − P(A)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80136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P(spam) = 0.85, then P(not spam) = 0.15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286000"/>
            <a:ext cx="8321040" cy="777240"/>
          </a:xfrm>
          <a:prstGeom prst="rect">
            <a:avLst/>
          </a:prstGeom>
          <a:solidFill>
            <a:srgbClr val="1A2235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11480" y="2286000"/>
            <a:ext cx="91440" cy="77724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331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 Rule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20440" y="23317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P(A ∪ B) = P(A) + P(B) − P(A ∩ B)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71576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P(red or blue ball) avoids counting overlap twice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200400"/>
            <a:ext cx="8321040" cy="777240"/>
          </a:xfrm>
          <a:prstGeom prst="rect">
            <a:avLst/>
          </a:prstGeom>
          <a:solidFill>
            <a:srgbClr val="1A2235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11480" y="3200400"/>
            <a:ext cx="91440" cy="77724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246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 Rule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520440" y="32461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P(A ∩ B) = P(A) × P(B)   [if independent]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63016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P(heads twice) = 0.5 × 0.5 = 0.25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4114800"/>
            <a:ext cx="8321040" cy="777240"/>
          </a:xfrm>
          <a:prstGeom prst="rect">
            <a:avLst/>
          </a:prstGeom>
          <a:solidFill>
            <a:srgbClr val="1A2235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11480" y="4114800"/>
            <a:ext cx="91440" cy="777240"/>
          </a:xfrm>
          <a:prstGeom prst="rect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4160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F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vs Dependent Events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520440" y="41605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Independent: outcome of A does not affect B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54456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 tosses ← independent  |  Cards w/o replacement ← dependent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1371600" cy="25603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F1A"/>
                </a:solidFill>
              </a:rPr>
              <a:t>PROBABILITY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Probability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 event A, given that event B has already occurred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1485900"/>
            <a:ext cx="6400800" cy="914400"/>
          </a:xfrm>
          <a:prstGeom prst="rect">
            <a:avLst/>
          </a:prstGeom>
          <a:solidFill>
            <a:srgbClr val="1A0A2E"/>
          </a:solidFill>
          <a:ln w="12700">
            <a:solidFill>
              <a:srgbClr val="7B61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71600" y="13716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P(A | B)  =  P(A ∩ B) / P(B)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2377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as: "Probability of A, given B"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743200"/>
            <a:ext cx="3931920" cy="1463040"/>
          </a:xfrm>
          <a:prstGeom prst="rect">
            <a:avLst/>
          </a:prstGeom>
          <a:solidFill>
            <a:srgbClr val="1A2235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" y="2743200"/>
            <a:ext cx="3931920" cy="256032"/>
          </a:xfrm>
          <a:prstGeom prst="rect">
            <a:avLst/>
          </a:prstGeom>
          <a:solidFill>
            <a:srgbClr val="FF6B6B">
              <a:alpha val="7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7432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Detection Example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03580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P(Spam | word 'free') 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the email contains 'free',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probability it is spam?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2743200"/>
            <a:ext cx="3931920" cy="1463040"/>
          </a:xfrm>
          <a:prstGeom prst="rect">
            <a:avLst/>
          </a:prstGeom>
          <a:solidFill>
            <a:srgbClr val="1A2235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00600" y="2743200"/>
            <a:ext cx="3931920" cy="256032"/>
          </a:xfrm>
          <a:prstGeom prst="rect">
            <a:avLst/>
          </a:prstGeom>
          <a:solidFill>
            <a:srgbClr val="7B61FF">
              <a:alpha val="70000"/>
            </a:srgbClr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92040" y="27432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AI / ML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37760" y="3090672"/>
            <a:ext cx="91440" cy="9144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20640" y="30540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Detection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937760" y="3364992"/>
            <a:ext cx="91440" cy="9144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20640" y="33284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Diagnosis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937760" y="3639312"/>
            <a:ext cx="91440" cy="9144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120640" y="36027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37760" y="3913632"/>
            <a:ext cx="91440" cy="9144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120640" y="38770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1371600" cy="25603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F1A"/>
                </a:solidFill>
              </a:rPr>
              <a:t>PROBABILITY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Bayes' Theorem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1201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your belief when new evidence arrives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60120" y="1472184"/>
            <a:ext cx="7269480" cy="685800"/>
          </a:xfrm>
          <a:prstGeom prst="rect">
            <a:avLst/>
          </a:prstGeom>
          <a:solidFill>
            <a:srgbClr val="1A0A2E"/>
          </a:solidFill>
          <a:ln w="12700">
            <a:solidFill>
              <a:srgbClr val="FF6B6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32588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P(A | B)  =  [ P(B | A) × P(A) ]  /  P(B)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11480" y="2468880"/>
            <a:ext cx="4023360" cy="640080"/>
          </a:xfrm>
          <a:prstGeom prst="rect">
            <a:avLst/>
          </a:prstGeom>
          <a:solidFill>
            <a:srgbClr val="1A2235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1208" y="2542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P(A|B)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08760" y="2560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— what we want to know after seeing evidence 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2468880"/>
            <a:ext cx="4023360" cy="640080"/>
          </a:xfrm>
          <a:prstGeom prst="rect">
            <a:avLst/>
          </a:prstGeom>
          <a:solidFill>
            <a:srgbClr val="1A2235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64608" y="2542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P(B|A)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52160" y="2560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— how likely is B if A is true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246120"/>
            <a:ext cx="4023360" cy="640080"/>
          </a:xfrm>
          <a:prstGeom prst="rect">
            <a:avLst/>
          </a:prstGeom>
          <a:solidFill>
            <a:srgbClr val="1A2235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1208" y="33192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P(A)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08760" y="3337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— our belief before seeing any evidence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3246120"/>
            <a:ext cx="4023360" cy="640080"/>
          </a:xfrm>
          <a:prstGeom prst="rect">
            <a:avLst/>
          </a:prstGeom>
          <a:solidFill>
            <a:srgbClr val="1A2235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64608" y="33192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P(B)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52160" y="3337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— normalizing constant (probability of B overall)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4114800"/>
            <a:ext cx="8321040" cy="804672"/>
          </a:xfrm>
          <a:prstGeom prst="rect">
            <a:avLst/>
          </a:prstGeom>
          <a:solidFill>
            <a:srgbClr val="0A1A2E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413308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Spam Example:  P(Spam | 'free')  =  P('free' | Spam) × P(Spam)  /  P('free')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46227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 Naive Bayes  ·  Bayesian Networks  ·  Spam Filters  ·  Medical Prediction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1371600" cy="25603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F1A"/>
                </a:solidFill>
              </a:rPr>
              <a:t>PROBABILITY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Variables &amp; Distributions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Variable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whose value depends on the outcome of a random experiment.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2103120"/>
            <a:ext cx="1874520" cy="1188720"/>
          </a:xfrm>
          <a:prstGeom prst="rect">
            <a:avLst/>
          </a:prstGeom>
          <a:solidFill>
            <a:srgbClr val="1A2235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217627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5146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heads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10 coin flips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14600" y="2103120"/>
            <a:ext cx="1874520" cy="1188720"/>
          </a:xfrm>
          <a:prstGeom prst="rect">
            <a:avLst/>
          </a:prstGeom>
          <a:solidFill>
            <a:srgbClr val="1A2235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06040" y="217627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06040" y="25146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Height, weight,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00600" y="1371600"/>
            <a:ext cx="3931920" cy="960120"/>
          </a:xfrm>
          <a:prstGeom prst="rect">
            <a:avLst/>
          </a:prstGeom>
          <a:solidFill>
            <a:srgbClr val="1A2235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00600" y="1371600"/>
            <a:ext cx="91440" cy="9601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0" y="14447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Bernoulli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17190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outcomes: Yes/No, 0/1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0" y="19659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Spam / Not Spam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2560320"/>
            <a:ext cx="3931920" cy="960120"/>
          </a:xfrm>
          <a:prstGeom prst="rect">
            <a:avLst/>
          </a:prstGeom>
          <a:solidFill>
            <a:srgbClr val="1A2235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00600" y="2560320"/>
            <a:ext cx="91440" cy="96012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0" y="26334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Binomial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0" y="29077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Bernoulli trials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0" y="31546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3 heads in 5 flips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0600" y="3749040"/>
            <a:ext cx="3931920" cy="960120"/>
          </a:xfrm>
          <a:prstGeom prst="rect">
            <a:avLst/>
          </a:prstGeom>
          <a:solidFill>
            <a:srgbClr val="1A2235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00600" y="3749040"/>
            <a:ext cx="91440" cy="960120"/>
          </a:xfrm>
          <a:prstGeom prst="rect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0" y="38221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40965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equally likely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0" y="43434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Random number 1–10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1371600" cy="25603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F1A"/>
                </a:solidFill>
              </a:rPr>
              <a:t>PROBABILITY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(Normal) Distribution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distribution in all of Machine Learning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5029200" cy="2560320"/>
          </a:xfrm>
          <a:prstGeom prst="rect">
            <a:avLst/>
          </a:prstGeom>
          <a:solidFill>
            <a:srgbClr val="1A2235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4030675"/>
            <a:ext cx="289560" cy="38405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5632" y="3953866"/>
            <a:ext cx="289560" cy="115214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2624" y="3819449"/>
            <a:ext cx="289560" cy="249631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499616" y="3589020"/>
            <a:ext cx="289560" cy="480060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816608" y="3300984"/>
            <a:ext cx="289560" cy="768096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133600" y="2916936"/>
            <a:ext cx="289560" cy="1152144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450592" y="2494483"/>
            <a:ext cx="289560" cy="1574597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67584" y="2148840"/>
            <a:ext cx="289560" cy="1920240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084576" y="2494483"/>
            <a:ext cx="289560" cy="1574597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401568" y="2916936"/>
            <a:ext cx="289560" cy="1152144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718560" y="3300984"/>
            <a:ext cx="289560" cy="768096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035552" y="3589020"/>
            <a:ext cx="289560" cy="480060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352544" y="3819449"/>
            <a:ext cx="289560" cy="249631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69536" y="3953866"/>
            <a:ext cx="289560" cy="115214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986528" y="4030675"/>
            <a:ext cx="289560" cy="38405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468880" y="38679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(mean)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" y="16733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Curve  (Gaussian Distribution)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0" y="1600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0" y="1901952"/>
            <a:ext cx="3200400" cy="502920"/>
          </a:xfrm>
          <a:prstGeom prst="rect">
            <a:avLst/>
          </a:prstGeom>
          <a:solidFill>
            <a:srgbClr val="0A0F1E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71500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f(x) = (1/σ√2π) × e^(-(x-μ)²/2σ²)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669280" y="2578608"/>
            <a:ext cx="91440" cy="91440"/>
          </a:xfrm>
          <a:prstGeom prst="ellipse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852160" y="2542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Height, weight, marks — bell shaped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0" y="2926080"/>
            <a:ext cx="91440" cy="91440"/>
          </a:xfrm>
          <a:prstGeom prst="ellipse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852160" y="28895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Naive Bayes classifier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0" y="3273552"/>
            <a:ext cx="91440" cy="91440"/>
          </a:xfrm>
          <a:prstGeom prst="ellipse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852160" y="323697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distributions in models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69280" y="3621024"/>
            <a:ext cx="91440" cy="91440"/>
          </a:xfrm>
          <a:prstGeom prst="ellipse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852160" y="35844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 &amp; normalization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69280" y="3968496"/>
            <a:ext cx="91440" cy="91440"/>
          </a:xfrm>
          <a:prstGeom prst="ellipse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852160" y="39319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ML algorithms assume normality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1371600" cy="25603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F1A"/>
                </a:solidFill>
              </a:rPr>
              <a:t>PROBABILITY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Limit Theorem (CLT)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averages always form a bell curve — no matter the original data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325880"/>
            <a:ext cx="8321040" cy="685800"/>
          </a:xfrm>
          <a:prstGeom prst="rect">
            <a:avLst/>
          </a:prstGeom>
          <a:solidFill>
            <a:srgbClr val="0A1A2E"/>
          </a:solidFill>
          <a:ln w="12700">
            <a:solidFill>
              <a:srgbClr val="00FF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35331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0F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"Even if the original data is NOT normally distributed, the distribution of sample means will approach a normal distribution as sample size increases."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2194560"/>
            <a:ext cx="2514600" cy="1645920"/>
          </a:xfrm>
          <a:prstGeom prst="rect">
            <a:avLst/>
          </a:prstGeom>
          <a:solidFill>
            <a:srgbClr val="1A2235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Data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(any shape)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26974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9CB5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3566160"/>
            <a:ext cx="384048" cy="274320"/>
          </a:xfrm>
          <a:prstGeom prst="rect">
            <a:avLst/>
          </a:prstGeom>
          <a:solidFill>
            <a:srgbClr val="7B61FF">
              <a:alpha val="60000"/>
            </a:srgbClr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14984" y="3401568"/>
            <a:ext cx="384048" cy="438912"/>
          </a:xfrm>
          <a:prstGeom prst="rect">
            <a:avLst/>
          </a:prstGeom>
          <a:solidFill>
            <a:srgbClr val="7B61FF">
              <a:alpha val="60000"/>
            </a:srgbClr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435608" y="3675888"/>
            <a:ext cx="384048" cy="164592"/>
          </a:xfrm>
          <a:prstGeom prst="rect">
            <a:avLst/>
          </a:prstGeom>
          <a:solidFill>
            <a:srgbClr val="7B61FF">
              <a:alpha val="60000"/>
            </a:srgbClr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856232" y="3346704"/>
            <a:ext cx="384048" cy="493776"/>
          </a:xfrm>
          <a:prstGeom prst="rect">
            <a:avLst/>
          </a:prstGeom>
          <a:solidFill>
            <a:srgbClr val="7B61FF">
              <a:alpha val="60000"/>
            </a:srgbClr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276856" y="3621024"/>
            <a:ext cx="384048" cy="219456"/>
          </a:xfrm>
          <a:prstGeom prst="rect">
            <a:avLst/>
          </a:prstGeom>
          <a:solidFill>
            <a:srgbClr val="7B61FF">
              <a:alpha val="60000"/>
            </a:srgbClr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27832" y="2194560"/>
            <a:ext cx="2514600" cy="1682496"/>
          </a:xfrm>
          <a:prstGeom prst="rect">
            <a:avLst/>
          </a:prstGeom>
          <a:solidFill>
            <a:srgbClr val="1A2235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64992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776472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many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→ average each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42432" y="26974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9CB5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410712" y="3675888"/>
            <a:ext cx="384048" cy="164592"/>
          </a:xfrm>
          <a:prstGeom prst="rect">
            <a:avLst/>
          </a:prstGeom>
          <a:solidFill>
            <a:srgbClr val="FFD93D">
              <a:alpha val="60000"/>
            </a:srgbClr>
          </a:solidFill>
          <a:ln w="127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831336" y="3566160"/>
            <a:ext cx="384048" cy="274320"/>
          </a:xfrm>
          <a:prstGeom prst="rect">
            <a:avLst/>
          </a:prstGeom>
          <a:solidFill>
            <a:srgbClr val="FFD93D">
              <a:alpha val="60000"/>
            </a:srgbClr>
          </a:solidFill>
          <a:ln w="127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251960" y="3401568"/>
            <a:ext cx="384048" cy="438912"/>
          </a:xfrm>
          <a:prstGeom prst="rect">
            <a:avLst/>
          </a:prstGeom>
          <a:solidFill>
            <a:srgbClr val="FFD93D">
              <a:alpha val="60000"/>
            </a:srgbClr>
          </a:solidFill>
          <a:ln w="127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72584" y="3456432"/>
            <a:ext cx="384048" cy="384048"/>
          </a:xfrm>
          <a:prstGeom prst="rect">
            <a:avLst/>
          </a:prstGeom>
          <a:solidFill>
            <a:srgbClr val="FFD93D">
              <a:alpha val="60000"/>
            </a:srgbClr>
          </a:solidFill>
          <a:ln w="127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093208" y="3621024"/>
            <a:ext cx="384048" cy="219456"/>
          </a:xfrm>
          <a:prstGeom prst="rect">
            <a:avLst/>
          </a:prstGeom>
          <a:solidFill>
            <a:srgbClr val="FFD93D">
              <a:alpha val="60000"/>
            </a:srgbClr>
          </a:solidFill>
          <a:ln w="127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44184" y="2206672"/>
            <a:ext cx="2514600" cy="1682496"/>
          </a:xfrm>
          <a:prstGeom prst="rect">
            <a:avLst/>
          </a:prstGeom>
          <a:solidFill>
            <a:srgbClr val="1A2235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81344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F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592824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F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 = Bell Curve!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27064" y="3675888"/>
            <a:ext cx="384048" cy="164592"/>
          </a:xfrm>
          <a:prstGeom prst="rect">
            <a:avLst/>
          </a:prstGeom>
          <a:solidFill>
            <a:srgbClr val="00FFB3">
              <a:alpha val="80000"/>
            </a:srgbClr>
          </a:solidFill>
          <a:ln w="12700">
            <a:solidFill>
              <a:srgbClr val="00FF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647688" y="3511296"/>
            <a:ext cx="384048" cy="329184"/>
          </a:xfrm>
          <a:prstGeom prst="rect">
            <a:avLst/>
          </a:prstGeom>
          <a:solidFill>
            <a:srgbClr val="00FFB3">
              <a:alpha val="80000"/>
            </a:srgbClr>
          </a:solidFill>
          <a:ln w="12700">
            <a:solidFill>
              <a:srgbClr val="00FF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068312" y="3291840"/>
            <a:ext cx="384048" cy="548640"/>
          </a:xfrm>
          <a:prstGeom prst="rect">
            <a:avLst/>
          </a:prstGeom>
          <a:solidFill>
            <a:srgbClr val="00FFB3">
              <a:alpha val="80000"/>
            </a:srgbClr>
          </a:solidFill>
          <a:ln w="12700">
            <a:solidFill>
              <a:srgbClr val="00FF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488936" y="3511296"/>
            <a:ext cx="384048" cy="329184"/>
          </a:xfrm>
          <a:prstGeom prst="rect">
            <a:avLst/>
          </a:prstGeom>
          <a:solidFill>
            <a:srgbClr val="00FFB3">
              <a:alpha val="80000"/>
            </a:srgbClr>
          </a:solidFill>
          <a:ln w="12700">
            <a:solidFill>
              <a:srgbClr val="00FF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909560" y="3675888"/>
            <a:ext cx="384048" cy="164592"/>
          </a:xfrm>
          <a:prstGeom prst="rect">
            <a:avLst/>
          </a:prstGeom>
          <a:solidFill>
            <a:srgbClr val="00FFB3">
              <a:alpha val="80000"/>
            </a:srgbClr>
          </a:solidFill>
          <a:ln w="12700">
            <a:solidFill>
              <a:srgbClr val="00FF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1148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CLT Matters in ML: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11480" y="4178808"/>
            <a:ext cx="73152" cy="7315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94360" y="41513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intervals in model evaluation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11480" y="4425696"/>
            <a:ext cx="73152" cy="7315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94360" y="43982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loss and accuracy across batches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11480" y="4672584"/>
            <a:ext cx="73152" cy="7315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94360" y="46451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ML algorithms assume normality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11480" y="4919472"/>
            <a:ext cx="73152" cy="7315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94360" y="4892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hypothesis testing in AI research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A14"/>
          </a:solidFill>
          <a:ln w="12700">
            <a:solidFill>
              <a:srgbClr val="060A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7B61FF">
              <a:alpha val="10000"/>
            </a:srgbClr>
          </a:solidFill>
          <a:ln w="12700">
            <a:solidFill>
              <a:srgbClr val="7B61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828800" y="1828800"/>
            <a:ext cx="4572000" cy="4572000"/>
          </a:xfrm>
          <a:prstGeom prst="ellipse">
            <a:avLst/>
          </a:prstGeom>
          <a:solidFill>
            <a:srgbClr val="00C2FF">
              <a:alpha val="10000"/>
            </a:srgbClr>
          </a:solidFill>
          <a:ln w="12700">
            <a:solidFill>
              <a:srgbClr val="00C2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Connects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pipeline. Four foundations. Every AI model.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1508760" cy="1188720"/>
          </a:xfrm>
          <a:prstGeom prst="rect">
            <a:avLst/>
          </a:prstGeom>
          <a:solidFill>
            <a:srgbClr val="1AD9A4">
              <a:alpha val="25000"/>
            </a:srgbClr>
          </a:solidFill>
          <a:ln w="12700">
            <a:solidFill>
              <a:srgbClr val="1AD9A4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29844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D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93852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organize data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783080" y="16276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9CB5"/>
                </a:solidFill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011680" y="1234440"/>
            <a:ext cx="1508760" cy="1188720"/>
          </a:xfrm>
          <a:prstGeom prst="rect">
            <a:avLst/>
          </a:prstGeom>
          <a:solidFill>
            <a:srgbClr val="7B61FF">
              <a:alpha val="25000"/>
            </a:srgbClr>
          </a:solidFill>
          <a:ln w="12700">
            <a:solidFill>
              <a:srgbClr val="7B61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011680" y="129844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57400" y="193852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arrays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520440" y="16276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9CB5"/>
                </a:solidFill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749040" y="1234440"/>
            <a:ext cx="1508760" cy="1188720"/>
          </a:xfrm>
          <a:prstGeom prst="rect">
            <a:avLst/>
          </a:prstGeom>
          <a:solidFill>
            <a:srgbClr val="FFD93D">
              <a:alpha val="25000"/>
            </a:srgbClr>
          </a:solidFill>
          <a:ln w="12700">
            <a:solidFill>
              <a:srgbClr val="FFD9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749040" y="129844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94760" y="193852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&amp; matrix math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257800" y="16276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9CB5"/>
                </a:solidFill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0" y="1234440"/>
            <a:ext cx="1508760" cy="1188720"/>
          </a:xfrm>
          <a:prstGeom prst="rect">
            <a:avLst/>
          </a:prstGeom>
          <a:solidFill>
            <a:srgbClr val="FF6B6B">
              <a:alpha val="25000"/>
            </a:srgbClr>
          </a:solidFill>
          <a:ln w="12700">
            <a:solidFill>
              <a:srgbClr val="FF6B6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0" y="129844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32120" y="193852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confidence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995160" y="16276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9CB5"/>
                </a:solidFill>
              </a:rPr>
              <a:t>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223760" y="1234440"/>
            <a:ext cx="1508760" cy="1188720"/>
          </a:xfrm>
          <a:prstGeom prst="rect">
            <a:avLst/>
          </a:prstGeom>
          <a:solidFill>
            <a:srgbClr val="00FFB3">
              <a:alpha val="25000"/>
            </a:srgbClr>
          </a:solidFill>
          <a:ln w="12700">
            <a:solidFill>
              <a:srgbClr val="00FFB3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223760" y="129844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F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F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69480" y="193852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2651760"/>
            <a:ext cx="8412480" cy="2267712"/>
          </a:xfrm>
          <a:prstGeom prst="rect">
            <a:avLst/>
          </a:prstGeom>
          <a:solidFill>
            <a:srgbClr val="1A2235"/>
          </a:solidFill>
          <a:ln w="12700">
            <a:solidFill>
              <a:srgbClr val="00C2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272491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Detection — Full Pipeline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090672"/>
            <a:ext cx="73152" cy="594360"/>
          </a:xfrm>
          <a:prstGeom prst="rect">
            <a:avLst/>
          </a:prstGeom>
          <a:solidFill>
            <a:srgbClr val="1AD9A4"/>
          </a:solidFill>
          <a:ln w="12700">
            <a:solidFill>
              <a:srgbClr val="1AD9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13232" y="31181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D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Pandas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3232" y="3383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email dataset (text, spam label)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090672"/>
            <a:ext cx="73152" cy="59436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19472" y="31181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NumPy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19472" y="3383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words → feature array [1, 1, 0, ...]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3840480"/>
            <a:ext cx="73152" cy="594360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13232" y="38679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Linear Algebra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3232" y="41330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matrix × weight matrix = scores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3840480"/>
            <a:ext cx="73152" cy="5943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19472" y="38679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Probability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19472" y="41330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P(Spam|'free') = 0.85 → classify as Spam</a:t>
            </a:r>
            <a:endParaRPr lang="en-US" sz="10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8d9e562-50eb-49de-b8ce-a7198a175d32}" enabled="0" method="" siteId="{88d9e562-50eb-49de-b8ce-a7198a175d3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118</TotalTime>
  <Words>3698</Words>
  <Application>Microsoft Office PowerPoint</Application>
  <PresentationFormat>On-screen Show (16:9)</PresentationFormat>
  <Paragraphs>483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Calibri</vt:lpstr>
      <vt:lpstr>Century Gothic</vt:lpstr>
      <vt:lpstr>Courier New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Blocks of AI</dc:title>
  <dc:subject>PptxGenJS Presentation</dc:subject>
  <dc:creator>PptxGenJS</dc:creator>
  <cp:lastModifiedBy>Mohit Singh</cp:lastModifiedBy>
  <cp:revision>2</cp:revision>
  <dcterms:created xsi:type="dcterms:W3CDTF">2026-04-09T21:12:48Z</dcterms:created>
  <dcterms:modified xsi:type="dcterms:W3CDTF">2026-04-10T11:45:39Z</dcterms:modified>
</cp:coreProperties>
</file>